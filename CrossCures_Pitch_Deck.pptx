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412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0"/>
            <a:ext cx="1417320" cy="6858000"/>
          </a:xfrm>
          <a:prstGeom prst="rect">
            <a:avLst/>
          </a:prstGeom>
          <a:solidFill>
            <a:srgbClr val="15223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0"/>
            <a:ext cx="1417320" cy="6858000"/>
          </a:xfrm>
          <a:prstGeom prst="rect">
            <a:avLst/>
          </a:prstGeom>
          <a:solidFill>
            <a:srgbClr val="15223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0"/>
            <a:ext cx="1417320" cy="6858000"/>
          </a:xfrm>
          <a:prstGeom prst="rect">
            <a:avLst/>
          </a:prstGeom>
          <a:solidFill>
            <a:srgbClr val="15223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7138" y="262647"/>
            <a:ext cx="1417320" cy="6858000"/>
          </a:xfrm>
          <a:prstGeom prst="rect">
            <a:avLst/>
          </a:prstGeom>
          <a:solidFill>
            <a:srgbClr val="15223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0"/>
            <a:ext cx="1417320" cy="6858000"/>
          </a:xfrm>
          <a:prstGeom prst="rect">
            <a:avLst/>
          </a:prstGeom>
          <a:solidFill>
            <a:srgbClr val="15223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0"/>
            <a:ext cx="1417320" cy="6858000"/>
          </a:xfrm>
          <a:prstGeom prst="rect">
            <a:avLst/>
          </a:prstGeom>
          <a:solidFill>
            <a:srgbClr val="15223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0" y="0"/>
            <a:ext cx="1417320" cy="6858000"/>
          </a:xfrm>
          <a:prstGeom prst="rect">
            <a:avLst/>
          </a:prstGeom>
          <a:solidFill>
            <a:srgbClr val="15223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0" y="0"/>
            <a:ext cx="1417320" cy="6858000"/>
          </a:xfrm>
          <a:prstGeom prst="rect">
            <a:avLst/>
          </a:prstGeom>
          <a:solidFill>
            <a:srgbClr val="152236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956048"/>
            <a:ext cx="6858000" cy="73152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960120"/>
            <a:ext cx="658368" cy="6583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27632" y="9601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CROSSCURES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22960" y="17830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Patient's AI Health Companion.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 Before, During &amp; After Every Visit.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822960" y="3291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fragmented health data into a living patient profile —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physicians better information in less time, at every touchpoint.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22960" y="4279392"/>
            <a:ext cx="2926080" cy="438912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27939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 × AI × Patient Continuity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869680" y="457200"/>
            <a:ext cx="2926080" cy="594360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006840" y="777240"/>
            <a:ext cx="2651760" cy="1554480"/>
          </a:xfrm>
          <a:prstGeom prst="rect">
            <a:avLst/>
          </a:prstGeom>
          <a:solidFill>
            <a:srgbClr val="0F243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006840" y="777240"/>
            <a:ext cx="2651760" cy="54864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06840" y="88696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$4.6B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9052560" y="14904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burnout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006840" y="2697480"/>
            <a:ext cx="2651760" cy="1554480"/>
          </a:xfrm>
          <a:prstGeom prst="rect">
            <a:avLst/>
          </a:prstGeom>
          <a:solidFill>
            <a:srgbClr val="0F243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06840" y="2697480"/>
            <a:ext cx="2651760" cy="54864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06840" y="28072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$300B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9052560" y="34107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medication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non-adherence yearly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006840" y="4617720"/>
            <a:ext cx="2651760" cy="1554480"/>
          </a:xfrm>
          <a:prstGeom prst="rect">
            <a:avLst/>
          </a:prstGeom>
          <a:solidFill>
            <a:srgbClr val="0F243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006840" y="4617720"/>
            <a:ext cx="2651760" cy="54864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006840" y="47274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86,000</a:t>
            </a:r>
            <a:endParaRPr lang="en-US" sz="3200" dirty="0"/>
          </a:p>
        </p:txBody>
      </p:sp>
      <p:sp>
        <p:nvSpPr>
          <p:cNvPr id="30" name="Text 27"/>
          <p:cNvSpPr/>
          <p:nvPr/>
        </p:nvSpPr>
        <p:spPr>
          <a:xfrm>
            <a:off x="9052560" y="533095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shortage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by 2036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Silent Crisis in Healthcare Delivery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abundant — yet the right information never reaches the right person at the right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2025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  |  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41280" y="66202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crosscures.ai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6289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15568"/>
            <a:ext cx="2628900" cy="6400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298448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4.5 hrs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1892808"/>
            <a:ext cx="2446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Physician EHR 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395728"/>
            <a:ext cx="24460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27% of time is face-to-face patient care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14700" y="1115568"/>
            <a:ext cx="26289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4700" y="1115568"/>
            <a:ext cx="2628900" cy="6400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1860" y="1298448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6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406140" y="1892808"/>
            <a:ext cx="2446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Physicians report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burnout symptoms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6140" y="2395728"/>
            <a:ext cx="24460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$4.6B/yr lost to burnout-driven turnover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72200" y="1115568"/>
            <a:ext cx="26289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115568"/>
            <a:ext cx="2628900" cy="64008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298448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~50%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263640" y="1892808"/>
            <a:ext cx="2446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Patients don't adhere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prescriptions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395728"/>
            <a:ext cx="24460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$100–300B in preventable costs annually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029700" y="1115568"/>
            <a:ext cx="26289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29700" y="1115568"/>
            <a:ext cx="2628900" cy="6400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66860" y="1298448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86,000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9121140" y="1892808"/>
            <a:ext cx="2446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Physician shortage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projected by 2036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21140" y="2395728"/>
            <a:ext cx="24460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AAMC — access-to-care crisis accelerating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310128"/>
            <a:ext cx="112471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49300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Problem: A Broken Information Loop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7200" y="3913632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913632"/>
            <a:ext cx="3566160" cy="6400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0050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 Before the Visit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94360" y="4462272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walk in cold. Pre-visit summaries are non-existent or incomplete. Patients can't recall nuanced symptom histories. Questionnaires are static snapshots, not dynamic narratives.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251960" y="3913632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251960" y="3913632"/>
            <a:ext cx="3566160" cy="6400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0" y="40050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 During the Visit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389120" y="4462272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appointments can't surface months of health context. Patients forget critical details under pressure. Physicians rely on incomplete recall. The visit ends with avoidable gaps.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46720" y="3913632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46720" y="3913632"/>
            <a:ext cx="3566160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83880" y="40050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 After the Visit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183880" y="4462272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Therapies are prescribed with no real-world feedback loop. Non-adherence and treatment failure go undetected until the next appointment — often months later — creating liability risk.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560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CROSSCURES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4048" y="960120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AI health companion that lives on the patient's phone,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knows them better than anyone — and speaks for them.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84048" y="19019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 continuously ingests health records, wearable data (Apple Watch, Fitbit), lab results, and symptom logs — building a living, longitudinal patient profile that surfaces the right information at the right time.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84048" y="2788920"/>
            <a:ext cx="3657600" cy="3639312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84048" y="2788920"/>
            <a:ext cx="3657600" cy="73152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2944368"/>
            <a:ext cx="640080" cy="640080"/>
          </a:xfrm>
          <a:prstGeom prst="line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08376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44168" y="294436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Pre-Visit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" y="3703320"/>
            <a:ext cx="3337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symptom tracking &amp; dynamic questionnaires served to the physician as a structured pre-brief.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270248" y="2788920"/>
            <a:ext cx="3657600" cy="3639312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70248" y="2788920"/>
            <a:ext cx="3657600" cy="73152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453128" y="2944368"/>
            <a:ext cx="640080" cy="640080"/>
          </a:xfrm>
          <a:prstGeom prst="lin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008376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0368" y="294436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Clinic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453128" y="3703320"/>
            <a:ext cx="3337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ambient, medically-informed agent that speaks on behalf of the patient during the clinical encounter.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156448" y="2788920"/>
            <a:ext cx="3657600" cy="3639312"/>
          </a:xfrm>
          <a:prstGeom prst="rect">
            <a:avLst/>
          </a:prstGeom>
          <a:solidFill>
            <a:srgbClr val="152236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156448" y="2788920"/>
            <a:ext cx="3657600" cy="731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39328" y="2944368"/>
            <a:ext cx="640080" cy="640080"/>
          </a:xfrm>
          <a:prstGeom prst="lin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3008376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16568" y="294436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Therapy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Guardian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339328" y="3703320"/>
            <a:ext cx="3337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Post-prescription follow-up loop: monitors outcomes, flags deviations, and reports back to the physician automatically.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384048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platform. Three touchpoints. A complete care continuum.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 — Pre-Visit Intelligence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passive patients into active data sources — before the physician even walks in the door.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2025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  |  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41280" y="66202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crosscures.ai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1155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1572768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572768"/>
            <a:ext cx="64008" cy="141732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1938528"/>
            <a:ext cx="502920" cy="502920"/>
          </a:xfrm>
          <a:prstGeom prst="line">
            <a:avLst/>
          </a:prstGeom>
          <a:solidFill>
            <a:srgbClr val="E0F5F3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61288" y="168249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Daily Check-ins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61288" y="2048256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 asks brief, contextually aware questions each day (morning fatigue, medication timing, mood, mobility). Questions adapt based on prior answers and known diagnoses.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3145536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145536"/>
            <a:ext cx="64008" cy="141732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" y="3511296"/>
            <a:ext cx="502920" cy="502920"/>
          </a:xfrm>
          <a:prstGeom prst="line">
            <a:avLst/>
          </a:prstGeom>
          <a:solidFill>
            <a:srgbClr val="E0F5F3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61288" y="32552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Wearable Correlation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61288" y="3621024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 vitals (HRV, sleep, activity, SpO₂) are fused with symptom logs to surface anomalies. Every data point is time-stamped and clinically contextualized.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" y="4718304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4718304"/>
            <a:ext cx="64008" cy="141732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" y="5084064"/>
            <a:ext cx="502920" cy="502920"/>
          </a:xfrm>
          <a:prstGeom prst="line">
            <a:avLst/>
          </a:prstGeom>
          <a:solidFill>
            <a:srgbClr val="E0F5F3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5084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61288" y="482803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Pre-Visit Physician Brief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61288" y="5193792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hours before an appointment, CrossCures auto-generates a structured brief: trending symptoms, medication adherence gaps, wearable alerts — delivered to the EHR or physician app.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35040" y="111556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Physician &amp; System Outcomes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35040" y="1572768"/>
            <a:ext cx="5760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1572768"/>
            <a:ext cx="5760720" cy="54864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16824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Saved Per Visit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199632" y="20116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Physicians save 8–12 min of history-taking per visit — enabling 2–3 additional patients per day.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35040" y="2834640"/>
            <a:ext cx="5760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0" y="2834640"/>
            <a:ext cx="5760720" cy="54864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29443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Impact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199632" y="327355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$200/visit average, 2 extra patients/day = $150,000+ added revenue per physician annually.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35040" y="4096512"/>
            <a:ext cx="5760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35040" y="4096512"/>
            <a:ext cx="5760720" cy="5486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Diagnostic Accuracy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199632" y="453542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symptom data surfaces patterns invisible in a single visit — reducing misdiagnosis and repeat visits.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35040" y="5358384"/>
            <a:ext cx="5760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35040" y="5358384"/>
            <a:ext cx="576072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54681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Empowerment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199632" y="579729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arrive informed and engaged — improving satisfaction scores and HCAHPS ratings for health systems.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870448" y="1097280"/>
            <a:ext cx="36576" cy="53035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 — The Clinic Companion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medically-informed advocate in the room — bridging the gap between what the patient knows and what the physician hears.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2025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  |  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41280" y="66202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crosscures.ai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11556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CrossCures Does In-Clinic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1572768"/>
            <a:ext cx="56692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572768"/>
            <a:ext cx="64008" cy="1444752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1682496"/>
            <a:ext cx="5376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Ambient Proactive Listening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5216" y="2048256"/>
            <a:ext cx="53766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patient consent, CrossCures listens during the consultation. When the physician or patient misses a relevant data point — a lab trend, skipped medication, abnormal HRV spike — CrossCures surfaces it contextually.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3145536"/>
            <a:ext cx="56692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3145536"/>
            <a:ext cx="64008" cy="1444752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3255264"/>
            <a:ext cx="5376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 for the Patient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5216" y="3621024"/>
            <a:ext cx="53766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forget ~40% of medical information in the first hour post-visit. CrossCures acts as an informed advocate — presenting data-backed context that the patient may struggle to articulate under stress.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4718304"/>
            <a:ext cx="56692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4718304"/>
            <a:ext cx="64008" cy="1444752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4828032"/>
            <a:ext cx="5376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Clinical Summary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85216" y="5193792"/>
            <a:ext cx="53766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visit progresses, CrossCures builds a real-time structured SOAP note, supplemented with longitudinal data, saving physicians documentation time post-visit.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0" y="11155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Multi-Stakeholder Gains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1572768"/>
            <a:ext cx="5303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1572768"/>
            <a:ext cx="5303520" cy="54864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16824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Physicians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65392" y="20116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data-backed clinical history without asking. Spend more time on diagnosis and care, less on information extraction.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0" y="2834640"/>
            <a:ext cx="5303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2834640"/>
            <a:ext cx="5303520" cy="54864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29443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Patients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65392" y="327355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forget to mention a symptom. Feel heard and understood. Reduce anxiety of navigating medical terminology alone.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0" y="4096512"/>
            <a:ext cx="5303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0" y="4096512"/>
            <a:ext cx="530352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Health Systems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65392" y="453542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Shorter, more efficient visits. Higher throughput. Improved patient satisfaction (NPS/HCAHPS). Reduced malpractice exposure.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5358384"/>
            <a:ext cx="5303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0" y="5358384"/>
            <a:ext cx="5303520" cy="5486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54681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Payers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565392" y="579729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redundant tests ordered due to information gaps. Fewer unnecessary ER visits. Actionable cost reduction.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1097280"/>
            <a:ext cx="36576" cy="53035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3 — The Therapy Guardian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feedback loop — from prescription to outcome, with automatic escalation when therapy isn't working.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2025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  |  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41280" y="66202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crosscures.ai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0972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Post-Visit Intelligence Loop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2468880"/>
            <a:ext cx="201168" cy="54864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572768"/>
            <a:ext cx="20848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572768"/>
            <a:ext cx="2084832" cy="64008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" y="1737360"/>
            <a:ext cx="694944" cy="694944"/>
          </a:xfrm>
          <a:prstGeom prst="line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17373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" y="256032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283464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Prescription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488" y="338328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 ingests the therapy plan, expected outcomes, and monitoring schedule from the physician's notes.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201168" cy="54864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1572768"/>
            <a:ext cx="20848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70048" y="1572768"/>
            <a:ext cx="2084832" cy="64008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64992" y="1737360"/>
            <a:ext cx="694944" cy="694944"/>
          </a:xfrm>
          <a:prstGeom prst="line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17373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61488" y="256032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3–7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61488" y="283464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Check-ins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61488" y="338328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questions on side effects, symptom improvement, dosing adherence — calibrated to the specific medication class.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40880" y="2468880"/>
            <a:ext cx="201168" cy="54864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56048" y="1572768"/>
            <a:ext cx="20848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56048" y="1572768"/>
            <a:ext cx="2084832" cy="6400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50992" y="1737360"/>
            <a:ext cx="694944" cy="694944"/>
          </a:xfrm>
          <a:prstGeom prst="lin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50992" y="17373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47488" y="256032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2–4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47488" y="283464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Wearable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Correlation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47488" y="338328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 correlates therapy timeline against wearable data — sleep, activity, vitals — for objective outcome signals.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326880" y="2468880"/>
            <a:ext cx="201168" cy="5486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42048" y="1572768"/>
            <a:ext cx="20848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42048" y="1572768"/>
            <a:ext cx="2084832" cy="6400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36992" y="1737360"/>
            <a:ext cx="694944" cy="694944"/>
          </a:xfrm>
          <a:prstGeom prst="lin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36992" y="17373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333488" y="256032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Needed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333488" y="283464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Physician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333488" y="338328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outcomes deviate from expected, CrossCures generates a structured outcome report and alerts the physician — before the scheduled follow-up.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528048" y="1572768"/>
            <a:ext cx="20848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528048" y="1572768"/>
            <a:ext cx="2084832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22992" y="1737360"/>
            <a:ext cx="694944" cy="694944"/>
          </a:xfrm>
          <a:prstGeom prst="lin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22992" y="17373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619488" y="256032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619488" y="283464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Closed-Loop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9619488" y="338328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receives a data-rich intervention request. Patient receives timely correction. Adverse events prevented.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84048" y="5029200"/>
            <a:ext cx="11393424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" y="5138928"/>
            <a:ext cx="2574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~50%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475488" y="5623560"/>
            <a:ext cx="26654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treatment failures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non-adherence (CDC)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195828" y="5102352"/>
            <a:ext cx="36576" cy="118872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69564" y="5138928"/>
            <a:ext cx="2574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100K+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3323844" y="5623560"/>
            <a:ext cx="26654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deaths/yr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non-adherence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044184" y="5102352"/>
            <a:ext cx="36576" cy="118872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0" y="5138928"/>
            <a:ext cx="2574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$300B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6172200" y="5623560"/>
            <a:ext cx="26654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annual costs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missed therapy outcomes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892540" y="5102352"/>
            <a:ext cx="36576" cy="1188720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66276" y="5138928"/>
            <a:ext cx="2574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72hrs</a:t>
            </a:r>
            <a:endParaRPr lang="en-US" sz="2600" dirty="0"/>
          </a:p>
        </p:txBody>
      </p:sp>
      <p:sp>
        <p:nvSpPr>
          <p:cNvPr id="60" name="Text 58"/>
          <p:cNvSpPr/>
          <p:nvPr/>
        </p:nvSpPr>
        <p:spPr>
          <a:xfrm>
            <a:off x="9020556" y="5623560"/>
            <a:ext cx="26654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before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learns of deviations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massive, rapidly growing market at the intersection of AI, chronic care, and digital health.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2025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  |  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41280" y="66202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crosscures.ai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017520" y="40416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1207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  $187.7B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in Healthcare by 2030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(Grand View Research)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084832"/>
            <a:ext cx="2011680" cy="36576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6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  $28.4B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578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engagement, remote monitoring,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health assistants segment (2030)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154680"/>
            <a:ext cx="2011680" cy="36576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  $4.2B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36393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 patients (US) with primary care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relationships — 5-yr addressable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49440" y="1051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49440" y="1572768"/>
            <a:ext cx="4846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86600" y="16459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38.5% CAGR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69680" y="164592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grows faster than almost any other tech category — 2024–2030 (Grand View Research)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778240" y="1709928"/>
            <a:ext cx="36576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0" y="2414016"/>
            <a:ext cx="4846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86600" y="24871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$13,500/person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69680" y="248716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annual healthcare spend per capita — highest in the world. Efficiency unlocks enormous value.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778240" y="2551176"/>
            <a:ext cx="36576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0" y="3255264"/>
            <a:ext cx="4846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086600" y="332841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in 2 adults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69680" y="332841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at least one chronic condition — the primary use case for continuous health monitoring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778240" y="3392424"/>
            <a:ext cx="36576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49440" y="4096512"/>
            <a:ext cx="4846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086600" y="416966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Apple Health API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869680" y="416966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wearables now generate clinical-grade data. The infrastructure is ready. CrossCures activates it.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778240" y="4233672"/>
            <a:ext cx="36576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49440" y="4937760"/>
            <a:ext cx="4846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086600" y="501091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Burnout crisis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869680" y="501091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of physicians burned out — demand for administrative relief has never been higher or more urgent.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778240" y="5074920"/>
            <a:ext cx="36576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9440" y="5779008"/>
            <a:ext cx="4846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086600" y="58521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 Value-Based Care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869680" y="585216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Reimbursement reform drives demand for longitudinal patient data systems — a core CrossCures output.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778240" y="5916168"/>
            <a:ext cx="36576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B2B2C: health systems and specialty clinics pay — patients benefit at zero friction.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2025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  |  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41280" y="66202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crosscures.ai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1155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Compounding Revenue Streams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1572768"/>
            <a:ext cx="35478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572768"/>
            <a:ext cx="3547872" cy="64008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169164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System SaaS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" y="210312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$8–15/patient/month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" y="2487168"/>
            <a:ext cx="3273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digital companion tool within a health system's patient panel. Scales with patient volume. EHR-integrated.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0" y="1664208"/>
            <a:ext cx="1261872" cy="27432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66420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60520" y="1572768"/>
            <a:ext cx="35478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60520" y="1572768"/>
            <a:ext cx="3547872" cy="64008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69164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Specialty Clinic License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210312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6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$500–2,000/month per physician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97680" y="2487168"/>
            <a:ext cx="3273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White-labeled for specialty practices (neurology, cardiology, endocrinology). Physicians pay for better data.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36792" y="1664208"/>
            <a:ext cx="1261872" cy="27432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166420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Channel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936992" y="1572768"/>
            <a:ext cx="35478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36992" y="1572768"/>
            <a:ext cx="3547872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74152" y="169164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Payer Partnership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74152" y="210312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PMPM risk-sharing model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074152" y="2487168"/>
            <a:ext cx="3273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 incentivized by reduced unnecessary ER visits and hospitalizations. Value-based care alignment.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113264" y="1664208"/>
            <a:ext cx="1261872" cy="2743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13264" y="166420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Revenue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" y="3977640"/>
            <a:ext cx="11393424" cy="245059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11480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Economics (Health System Deployment)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6928" y="4572000"/>
            <a:ext cx="35387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6656" y="462686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patients per physician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6656" y="4892040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1,200–1,500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4288536" y="4572000"/>
            <a:ext cx="35387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398264" y="462686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(per patient/month)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398264" y="4892040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 avg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010144" y="4572000"/>
            <a:ext cx="35387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119872" y="462686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 per Physician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19872" y="4892040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$120–$180K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566928" y="5376672"/>
            <a:ext cx="35387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76656" y="543153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(SaaS)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76656" y="5696712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72–78%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4288536" y="5376672"/>
            <a:ext cx="35387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398264" y="543153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(Health System Channel)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398264" y="5696712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&lt;$2/patient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8010144" y="5376672"/>
            <a:ext cx="35387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119872" y="543153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119872" y="5696712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4 months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 is the only platform that owns the full patient journey — before, during, and after the clinical encounter.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2025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  |  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41280" y="66202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crosscures.ai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84048" y="1115568"/>
            <a:ext cx="11393424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155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90088" y="11155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CrossCures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18888" y="1115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Ambient AI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(Suki/Nuance)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30568" y="11155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Chronic Care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(Livongo/Onduo)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025128" y="11155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PCP AI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(Commure/Abridge)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1719072"/>
            <a:ext cx="1139342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171907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Pre-visit symptom tracking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90088" y="171907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18888" y="171907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30568" y="171907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6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25128" y="171907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926080" y="1115568"/>
            <a:ext cx="1865376" cy="4553712"/>
          </a:xfrm>
          <a:prstGeom prst="rect">
            <a:avLst/>
          </a:prstGeom>
          <a:solidFill>
            <a:srgbClr val="F0FBF9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0088" y="11155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CrossCures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" y="2286000"/>
            <a:ext cx="11393424" cy="53035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228600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data fusion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990088" y="22860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18888" y="22860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30568" y="22860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025128" y="22860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84048" y="2852928"/>
            <a:ext cx="1139342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28529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In-clinic ambient companion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990088" y="285292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18888" y="285292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830568" y="285292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025128" y="285292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384048" y="3419856"/>
            <a:ext cx="11393424" cy="53035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341985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Post-therapy monitoring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2990088" y="34198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818888" y="341985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830568" y="341985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6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025128" y="341985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384048" y="3986784"/>
            <a:ext cx="1139342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" y="398678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narrative brief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2990088" y="398678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818888" y="398678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830568" y="398678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025128" y="398678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384048" y="4553712"/>
            <a:ext cx="11393424" cy="530352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768" y="45537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physician escalation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2990088" y="45537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4818888" y="455371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830568" y="455371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9025128" y="455371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384048" y="5120640"/>
            <a:ext cx="1139342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9768" y="51206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care continuum (all 3)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2990088" y="51206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4818888" y="512064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830568" y="51206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9025128" y="51206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2935224" y="1728216"/>
            <a:ext cx="1847088" cy="512064"/>
          </a:xfrm>
          <a:prstGeom prst="rect">
            <a:avLst/>
          </a:prstGeom>
          <a:solidFill>
            <a:srgbClr val="F0F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90088" y="171907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2935224" y="2295144"/>
            <a:ext cx="1847088" cy="512064"/>
          </a:xfrm>
          <a:prstGeom prst="rect">
            <a:avLst/>
          </a:prstGeom>
          <a:solidFill>
            <a:srgbClr val="E8F8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90088" y="22860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2935224" y="2862072"/>
            <a:ext cx="1847088" cy="512064"/>
          </a:xfrm>
          <a:prstGeom prst="rect">
            <a:avLst/>
          </a:prstGeom>
          <a:solidFill>
            <a:srgbClr val="F0F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90088" y="285292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2935224" y="3429000"/>
            <a:ext cx="1847088" cy="512064"/>
          </a:xfrm>
          <a:prstGeom prst="rect">
            <a:avLst/>
          </a:prstGeom>
          <a:solidFill>
            <a:srgbClr val="E8F8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90088" y="34198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2935224" y="3995928"/>
            <a:ext cx="1847088" cy="512064"/>
          </a:xfrm>
          <a:prstGeom prst="rect">
            <a:avLst/>
          </a:prstGeom>
          <a:solidFill>
            <a:srgbClr val="F0F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90088" y="398678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2935224" y="4562856"/>
            <a:ext cx="1847088" cy="512064"/>
          </a:xfrm>
          <a:prstGeom prst="rect">
            <a:avLst/>
          </a:prstGeom>
          <a:solidFill>
            <a:srgbClr val="E8F8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990088" y="45537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2935224" y="5129784"/>
            <a:ext cx="1847088" cy="512064"/>
          </a:xfrm>
          <a:prstGeom prst="rect">
            <a:avLst/>
          </a:prstGeom>
          <a:solidFill>
            <a:srgbClr val="F0FB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990088" y="51206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0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384048" y="5687568"/>
            <a:ext cx="11393424" cy="822960"/>
          </a:xfrm>
          <a:prstGeom prst="rect">
            <a:avLst/>
          </a:prstGeom>
          <a:solidFill>
            <a:srgbClr val="E0F5F3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6928" y="576072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 is the only solution that connects all three phases of the care encounter with a single, continuous patient intelligence layer. Competitors own one moment. CrossCures owns the entire journey.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partnership to clinical deployment — validated by the institutions that matter most.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2025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  |  Confidential &amp; Proprietary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41280" y="66202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B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crosscures.ai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1155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Traction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84048" y="1572768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84048" y="1572768"/>
            <a:ext cx="64008" cy="1097280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9568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Partnership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6928" y="2011680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779776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779776"/>
            <a:ext cx="64008" cy="109728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154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Pilot Ready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66928" y="3218688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3986784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84048" y="3986784"/>
            <a:ext cx="64008" cy="10972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44855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Physician Testing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66928" y="4425696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5193792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5193792"/>
            <a:ext cx="64008" cy="109728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" y="56372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Institutional Validation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66928" y="5632704"/>
            <a:ext cx="4956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11155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12-Month Roadmap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6217920" y="1737360"/>
            <a:ext cx="457200" cy="457200"/>
          </a:xfrm>
          <a:prstGeom prst="line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19088" y="2212848"/>
            <a:ext cx="54864" cy="7132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71132" y="1565861"/>
            <a:ext cx="49194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84848" y="1572768"/>
            <a:ext cx="4919472" cy="54864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22008" y="166420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Close + Team Build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22008" y="197510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$5M seed. Hire 2 engineers, 1 clinical AI lead, 1 health system BD lead.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2724912"/>
            <a:ext cx="457200" cy="457200"/>
          </a:xfrm>
          <a:prstGeom prst="line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19088" y="3200400"/>
            <a:ext cx="54864" cy="7132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84848" y="2560320"/>
            <a:ext cx="49194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84848" y="2560320"/>
            <a:ext cx="4919472" cy="54864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22008" y="26517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 Launch — Pilot Site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22008" y="296265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CrossCures Stage 1 (symptom tracking) with multispecialty patient cohort (50 patients).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3712464"/>
            <a:ext cx="457200" cy="457200"/>
          </a:xfrm>
          <a:prstGeom prst="lin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19088" y="4187952"/>
            <a:ext cx="54864" cy="7132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84848" y="3547872"/>
            <a:ext cx="49194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84848" y="3547872"/>
            <a:ext cx="4919472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22008" y="36393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 + EHR Integration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922008" y="395020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clinic companion module. Complete Epic/Cerner integration. Expand to 3 clinics.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17920" y="4700016"/>
            <a:ext cx="457200" cy="457200"/>
          </a:xfrm>
          <a:prstGeom prst="lin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4700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19088" y="5175504"/>
            <a:ext cx="54864" cy="7132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84848" y="4535424"/>
            <a:ext cx="49194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784848" y="4535424"/>
            <a:ext cx="4919472" cy="5486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22008" y="46268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3 + Commercial Launch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22008" y="493776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guardian live. First paid health system contract. 500 patients enrolled.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17920" y="5687568"/>
            <a:ext cx="457200" cy="457200"/>
          </a:xfrm>
          <a:prstGeom prst="line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0" y="5687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784848" y="5522976"/>
            <a:ext cx="49194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784848" y="5522976"/>
            <a:ext cx="4919472" cy="54864"/>
          </a:xfrm>
          <a:prstGeom prst="rect">
            <a:avLst/>
          </a:prstGeom>
          <a:solidFill>
            <a:srgbClr val="00B09B"/>
          </a:solidFill>
          <a:ln w="12700">
            <a:solidFill>
              <a:srgbClr val="00B09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22008" y="561441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Series A Ready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922008" y="592531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 patients. 3 health systems. Revenue &gt;$500K ARR. Begin Series A process.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1702</Words>
  <Application>Microsoft Macintosh PowerPoint</Application>
  <PresentationFormat>Widescreen</PresentationFormat>
  <Paragraphs>289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CrossCures Investor Pitch Deck</dc:title>
  <dc:subject>PptxGenJS Presentation</dc:subject>
  <dc:creator>PptxGenJS</dc:creator>
  <cp:lastModifiedBy>Shaurjya Mandal</cp:lastModifiedBy>
  <cp:revision>2</cp:revision>
  <dcterms:created xsi:type="dcterms:W3CDTF">2026-03-15T16:15:49Z</dcterms:created>
  <dcterms:modified xsi:type="dcterms:W3CDTF">2026-03-15T16:43:54Z</dcterms:modified>
</cp:coreProperties>
</file>